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2F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1B4B"/>
                </a:solidFill>
                <a:latin typeface="Arial"/>
              </a:rPr>
              <a:t>Activity Distribution by User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833AB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Top 10%</c:v>
                </c:pt>
                <c:pt idx="1">
                  <c:v>Mid 40%</c:v>
                </c:pt>
                <c:pt idx="2">
                  <c:v>Low 40%</c:v>
                </c:pt>
                <c:pt idx="3">
                  <c:v>Inactive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</c:v>
                </c:pt>
                <c:pt idx="1">
                  <c:v>210</c:v>
                </c:pt>
                <c:pt idx="2">
                  <c:v>65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F1-F94C-AA9E-11DDF84A30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Likes</c:v>
                </c:pt>
              </c:strCache>
            </c:strRef>
          </c:tx>
          <c:spPr>
            <a:solidFill>
              <a:srgbClr val="E1306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Top 10%</c:v>
                </c:pt>
                <c:pt idx="1">
                  <c:v>Mid 40%</c:v>
                </c:pt>
                <c:pt idx="2">
                  <c:v>Low 40%</c:v>
                </c:pt>
                <c:pt idx="3">
                  <c:v>Inactive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380</c:v>
                </c:pt>
                <c:pt idx="2">
                  <c:v>90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F1-F94C-AA9E-11DDF84A30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Comments</c:v>
                </c:pt>
              </c:strCache>
            </c:strRef>
          </c:tx>
          <c:spPr>
            <a:solidFill>
              <a:srgbClr val="F7773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Top 10%</c:v>
                </c:pt>
                <c:pt idx="1">
                  <c:v>Mid 40%</c:v>
                </c:pt>
                <c:pt idx="2">
                  <c:v>Low 40%</c:v>
                </c:pt>
                <c:pt idx="3">
                  <c:v>Inactive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740</c:v>
                </c:pt>
                <c:pt idx="1">
                  <c:v>260</c:v>
                </c:pt>
                <c:pt idx="2">
                  <c:v>55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F1-F94C-AA9E-11DDF84A30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1B4B"/>
                </a:solidFill>
                <a:latin typeface="Arial"/>
              </a:rPr>
              <a:t>Top 8 Users by Engagement Score (Likes + Comments)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Score</c:v>
                </c:pt>
              </c:strCache>
            </c:strRef>
          </c:tx>
          <c:spPr>
            <a:solidFill>
              <a:srgbClr val="E130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Rank 1</c:v>
                </c:pt>
                <c:pt idx="1">
                  <c:v>Rank 2</c:v>
                </c:pt>
                <c:pt idx="2">
                  <c:v>Rank 3</c:v>
                </c:pt>
                <c:pt idx="3">
                  <c:v>Rank 4</c:v>
                </c:pt>
                <c:pt idx="4">
                  <c:v>Rank 5</c:v>
                </c:pt>
                <c:pt idx="5">
                  <c:v>Rank 6</c:v>
                </c:pt>
                <c:pt idx="6">
                  <c:v>Rank 7</c:v>
                </c:pt>
                <c:pt idx="7">
                  <c:v>Rank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1720</c:v>
                </c:pt>
                <c:pt idx="1">
                  <c:v>1560</c:v>
                </c:pt>
                <c:pt idx="2">
                  <c:v>1420</c:v>
                </c:pt>
                <c:pt idx="3">
                  <c:v>1310</c:v>
                </c:pt>
                <c:pt idx="4">
                  <c:v>1240</c:v>
                </c:pt>
                <c:pt idx="5">
                  <c:v>1180</c:v>
                </c:pt>
                <c:pt idx="6">
                  <c:v>1100</c:v>
                </c:pt>
                <c:pt idx="7">
                  <c:v>1050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54-934F-90FF-FD91C884C4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1B4B"/>
                </a:solidFill>
                <a:latin typeface="Arial"/>
              </a:rPr>
              <a:t>Top 10 Hashtags by Average Likes per Post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Likes</c:v>
                </c:pt>
              </c:strCache>
            </c:strRef>
          </c:tx>
          <c:spPr>
            <a:solidFill>
              <a:srgbClr val="F7773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Beauty</c:v>
                </c:pt>
                <c:pt idx="1">
                  <c:v>Delicious</c:v>
                </c:pt>
                <c:pt idx="2">
                  <c:v>Foodie</c:v>
                </c:pt>
                <c:pt idx="3">
                  <c:v>Dreamy</c:v>
                </c:pt>
                <c:pt idx="4">
                  <c:v>Food</c:v>
                </c:pt>
                <c:pt idx="5">
                  <c:v>Photography</c:v>
                </c:pt>
                <c:pt idx="6">
                  <c:v>Smile</c:v>
                </c:pt>
                <c:pt idx="7">
                  <c:v>Stunning</c:v>
                </c:pt>
                <c:pt idx="8">
                  <c:v>Sunset</c:v>
                </c:pt>
                <c:pt idx="9">
                  <c:v>Beach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312</c:v>
                </c:pt>
                <c:pt idx="1">
                  <c:v>298</c:v>
                </c:pt>
                <c:pt idx="2">
                  <c:v>285</c:v>
                </c:pt>
                <c:pt idx="3">
                  <c:v>271</c:v>
                </c:pt>
                <c:pt idx="4">
                  <c:v>264</c:v>
                </c:pt>
                <c:pt idx="5">
                  <c:v>253</c:v>
                </c:pt>
                <c:pt idx="6">
                  <c:v>241</c:v>
                </c:pt>
                <c:pt idx="7">
                  <c:v>238</c:v>
                </c:pt>
                <c:pt idx="8">
                  <c:v>229</c:v>
                </c:pt>
                <c:pt idx="9">
                  <c:v>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A6-3E43-8335-09CF57B702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1B4B"/>
                </a:solidFill>
                <a:latin typeface="Arial"/>
              </a:rPr>
              <a:t>Engagement Score Composition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8245816446358329"/>
          <c:y val="0.15744135498687664"/>
          <c:w val="0.44342003664062402"/>
          <c:h val="0.6925917951662291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33A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381-AF4B-8048-B52F472034EA}"/>
              </c:ext>
            </c:extLst>
          </c:dPt>
          <c:dPt>
            <c:idx val="1"/>
            <c:bubble3D val="0"/>
            <c:spPr>
              <a:solidFill>
                <a:srgbClr val="E130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81-AF4B-8048-B52F472034EA}"/>
              </c:ext>
            </c:extLst>
          </c:dPt>
          <c:dPt>
            <c:idx val="2"/>
            <c:bubble3D val="0"/>
            <c:spPr>
              <a:solidFill>
                <a:srgbClr val="F777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381-AF4B-8048-B52F472034EA}"/>
              </c:ext>
            </c:extLst>
          </c:dPt>
          <c:dPt>
            <c:idx val="3"/>
            <c:bubble3D val="0"/>
            <c:spPr>
              <a:solidFill>
                <a:srgbClr val="FCA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381-AF4B-8048-B52F472034E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381-AF4B-8048-B52F472034E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381-AF4B-8048-B52F472034E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381-AF4B-8048-B52F472034E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381-AF4B-8048-B52F472034E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Likes</c:v>
                </c:pt>
                <c:pt idx="1">
                  <c:v>Comments</c:v>
                </c:pt>
                <c:pt idx="2">
                  <c:v>Posts</c:v>
                </c:pt>
                <c:pt idx="3">
                  <c:v>Tags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31</c:v>
                </c:pt>
                <c:pt idx="2">
                  <c:v>15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381-AF4B-8048-B52F472034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1B4B"/>
                </a:solidFill>
                <a:latin typeface="Arial"/>
              </a:rPr>
              <a:t>User Activity Segmentation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Users</c:v>
                </c:pt>
              </c:strCache>
            </c:strRef>
          </c:tx>
          <c:spPr>
            <a:solidFill>
              <a:srgbClr val="E1306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61-9D4E-B335-E0BCFF0C766A}"/>
              </c:ext>
            </c:extLst>
          </c:dPt>
          <c:dPt>
            <c:idx val="1"/>
            <c:invertIfNegative val="0"/>
            <c:bubble3D val="0"/>
            <c:spPr>
              <a:solidFill>
                <a:srgbClr val="C135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61-9D4E-B335-E0BCFF0C766A}"/>
              </c:ext>
            </c:extLst>
          </c:dPt>
          <c:dPt>
            <c:idx val="2"/>
            <c:invertIfNegative val="0"/>
            <c:bubble3D val="0"/>
            <c:spPr>
              <a:solidFill>
                <a:srgbClr val="833A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D61-9D4E-B335-E0BCFF0C766A}"/>
              </c:ext>
            </c:extLst>
          </c:dPt>
          <c:dPt>
            <c:idx val="3"/>
            <c:invertIfNegative val="0"/>
            <c:bubble3D val="0"/>
            <c:spPr>
              <a:solidFill>
                <a:srgbClr val="5B5E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D61-9D4E-B335-E0BCFF0C766A}"/>
              </c:ext>
            </c:extLst>
          </c:dPt>
          <c:dPt>
            <c:idx val="4"/>
            <c:invertIfNegative val="0"/>
            <c:bubble3D val="0"/>
            <c:spPr>
              <a:solidFill>
                <a:srgbClr val="2D2D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D61-9D4E-B335-E0BCFF0C766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Zero Activity</c:v>
                </c:pt>
                <c:pt idx="1">
                  <c:v>1–5 Interactions</c:v>
                </c:pt>
                <c:pt idx="2">
                  <c:v>6–20 Interactions</c:v>
                </c:pt>
                <c:pt idx="3">
                  <c:v>21–100 Interactions</c:v>
                </c:pt>
                <c:pt idx="4">
                  <c:v>100+ Interactions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18</c:v>
                </c:pt>
                <c:pt idx="2">
                  <c:v>25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D61-9D4E-B335-E0BCFF0C76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1B4B"/>
                </a:solidFill>
                <a:latin typeface="Arial"/>
              </a:rPr>
              <a:t>Average Engagement Rate by Hour of Day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</c:v>
                </c:pt>
              </c:strCache>
            </c:strRef>
          </c:tx>
          <c:spPr>
            <a:ln w="38100" cap="flat">
              <a:solidFill>
                <a:srgbClr val="F777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77737"/>
              </a:solidFill>
              <a:ln w="9525" cap="flat">
                <a:solidFill>
                  <a:srgbClr val="F77737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6AM</c:v>
                </c:pt>
                <c:pt idx="1">
                  <c:v>8AM</c:v>
                </c:pt>
                <c:pt idx="2">
                  <c:v>10AM</c:v>
                </c:pt>
                <c:pt idx="3">
                  <c:v>12PM</c:v>
                </c:pt>
                <c:pt idx="4">
                  <c:v>2PM</c:v>
                </c:pt>
                <c:pt idx="5">
                  <c:v>4PM</c:v>
                </c:pt>
                <c:pt idx="6">
                  <c:v>5PM</c:v>
                </c:pt>
                <c:pt idx="7">
                  <c:v>6PM</c:v>
                </c:pt>
                <c:pt idx="8">
                  <c:v>7PM</c:v>
                </c:pt>
                <c:pt idx="9">
                  <c:v>8PM</c:v>
                </c:pt>
                <c:pt idx="10">
                  <c:v>9PM</c:v>
                </c:pt>
                <c:pt idx="11">
                  <c:v>10PM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35</c:v>
                </c:pt>
                <c:pt idx="4">
                  <c:v>29</c:v>
                </c:pt>
                <c:pt idx="5">
                  <c:v>38</c:v>
                </c:pt>
                <c:pt idx="6">
                  <c:v>45</c:v>
                </c:pt>
                <c:pt idx="7">
                  <c:v>52</c:v>
                </c:pt>
                <c:pt idx="8">
                  <c:v>63</c:v>
                </c:pt>
                <c:pt idx="9">
                  <c:v>54</c:v>
                </c:pt>
                <c:pt idx="10">
                  <c:v>41</c:v>
                </c:pt>
                <c:pt idx="11">
                  <c:v>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152-E94F-AC95-0DB3377CA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676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73152" cy="5143500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5" name="Shape 3"/>
          <p:cNvSpPr>
            <a:spLocks noChangeAspect="1"/>
          </p:cNvSpPr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833AB4">
              <a:alpha val="25000"/>
            </a:srgbClr>
          </a:solidFill>
          <a:ln w="12700">
            <a:solidFill>
              <a:srgbClr val="833AB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0"/>
            <a:ext cx="54864" cy="5143500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E1306C">
              <a:alpha val="20000"/>
            </a:srgbClr>
          </a:solidFill>
          <a:ln w="12700">
            <a:solidFill>
              <a:srgbClr val="E1306C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Analysis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514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kern="0" spc="40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INSTAGRAM CLONE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User Data for Targeted Marketing Strategy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389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0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· Marketing Team Collaboration</a:t>
            </a:r>
            <a:endParaRPr lang="en-US" sz="11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7C212BF-7119-972B-B2B4-32CD0654F812}"/>
              </a:ext>
            </a:extLst>
          </p:cNvPr>
          <p:cNvSpPr/>
          <p:nvPr/>
        </p:nvSpPr>
        <p:spPr>
          <a:xfrm>
            <a:off x="454152" y="356311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 : Lakshay Garg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the challenge we are solving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383280"/>
          </a:xfrm>
          <a:prstGeom prst="rect">
            <a:avLst/>
          </a:prstGeom>
          <a:solidFill>
            <a:srgbClr val="0D0D1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447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5488" y="1965960"/>
            <a:ext cx="386791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(Meta) is one of the world's leading social media platforms with over 2 billion monthly active users.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uses a relational clone dataset of Instagram to uncover actionable marketing insights.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analysts embedded with the Marketing team, goal is to transform raw engagement data into strategies.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4023360" cy="3383280"/>
          </a:xfrm>
          <a:prstGeom prst="rect">
            <a:avLst/>
          </a:prstGeom>
          <a:solidFill>
            <a:srgbClr val="FFF0F6"/>
          </a:solidFill>
          <a:ln w="12700">
            <a:solidFill>
              <a:srgbClr val="F9BF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34440"/>
            <a:ext cx="64008" cy="3383280"/>
          </a:xfrm>
          <a:prstGeom prst="rect">
            <a:avLst/>
          </a:prstGeom>
          <a:solidFill>
            <a:srgbClr val="E1306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44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30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19659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team needs data-driven strategies to: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 user engagement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 user retention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 new user acquisition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insights from existing data, campaigns remain generic &amp; underperform. We bridge that gap.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 through this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97480" cy="160020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697480" cy="54864"/>
          </a:xfrm>
          <a:prstGeom prst="rect">
            <a:avLst/>
          </a:prstGeom>
          <a:solidFill>
            <a:srgbClr val="833AB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3990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82880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user activity — posts, likes, comments — to identify patterns and power users.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697480" cy="160020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2697480" cy="54864"/>
          </a:xfrm>
          <a:prstGeom prst="rect">
            <a:avLst/>
          </a:prstGeom>
          <a:solidFill>
            <a:srgbClr val="E1306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4173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13048" y="13990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 Mapping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82880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loyal vs. inactive users and define data-backed retention strategies.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234440"/>
            <a:ext cx="2697480" cy="160020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34440"/>
            <a:ext cx="2697480" cy="54864"/>
          </a:xfrm>
          <a:prstGeom prst="rect">
            <a:avLst/>
          </a:prstGeom>
          <a:solidFill>
            <a:srgbClr val="F7773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173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84848" y="13990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Targeting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182880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hashtags, peak activity hours, and content types to optimise ad delivery.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3154680"/>
            <a:ext cx="2697480" cy="160020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154680"/>
            <a:ext cx="2697480" cy="54864"/>
          </a:xfrm>
          <a:prstGeom prst="rect">
            <a:avLst/>
          </a:prstGeom>
          <a:solidFill>
            <a:srgbClr val="833AB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3375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33192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Strategy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11480" y="37490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content topics that drive highest organic engagement and guide creator programs.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46120" y="3154680"/>
            <a:ext cx="2697480" cy="160020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3154680"/>
            <a:ext cx="2697480" cy="54864"/>
          </a:xfrm>
          <a:prstGeom prst="rect">
            <a:avLst/>
          </a:prstGeom>
          <a:solidFill>
            <a:srgbClr val="E1306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33756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13048" y="33192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Acquisition Growth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383280" y="37490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follower/following trends and viral content signals to attract new users.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17920" y="3154680"/>
            <a:ext cx="2697480" cy="160020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3154680"/>
            <a:ext cx="2697480" cy="54864"/>
          </a:xfrm>
          <a:prstGeom prst="rect">
            <a:avLst/>
          </a:prstGeom>
          <a:solidFill>
            <a:srgbClr val="F77737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33756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84848" y="33192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 Insights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55080" y="37490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every SQL finding into a concrete marketing recommendation.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 – Schema &amp; ERD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7-table relational dataset modelling core Instagram interactions</a:t>
            </a:r>
            <a:endParaRPr lang="en-US" sz="13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32D92D1-0AE8-3634-E091-12F1A2699AE0}"/>
              </a:ext>
            </a:extLst>
          </p:cNvPr>
          <p:cNvGrpSpPr/>
          <p:nvPr/>
        </p:nvGrpSpPr>
        <p:grpSpPr>
          <a:xfrm>
            <a:off x="4655126" y="2948529"/>
            <a:ext cx="1828798" cy="594360"/>
            <a:chOff x="274320" y="1207008"/>
            <a:chExt cx="1828800" cy="594360"/>
          </a:xfrm>
        </p:grpSpPr>
        <p:sp>
          <p:nvSpPr>
            <p:cNvPr id="5" name="Shape 3"/>
            <p:cNvSpPr/>
            <p:nvPr/>
          </p:nvSpPr>
          <p:spPr>
            <a:xfrm>
              <a:off x="274320" y="1207008"/>
              <a:ext cx="1828800" cy="594360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274320" y="1207008"/>
              <a:ext cx="64008" cy="594360"/>
            </a:xfrm>
            <a:prstGeom prst="rect">
              <a:avLst/>
            </a:prstGeom>
            <a:solidFill>
              <a:srgbClr val="E12F6C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438912" y="1261872"/>
              <a:ext cx="1280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USERS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38912" y="1508760"/>
              <a:ext cx="16642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user_id, username, created_at</a:t>
              </a:r>
              <a:endParaRPr lang="en-US" sz="10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6D64FFC-E6C0-CAF1-49AD-BC673AA58F1A}"/>
              </a:ext>
            </a:extLst>
          </p:cNvPr>
          <p:cNvGrpSpPr/>
          <p:nvPr/>
        </p:nvGrpSpPr>
        <p:grpSpPr>
          <a:xfrm>
            <a:off x="5602779" y="847070"/>
            <a:ext cx="1961804" cy="594360"/>
            <a:chOff x="274320" y="1901952"/>
            <a:chExt cx="1961804" cy="594360"/>
          </a:xfrm>
        </p:grpSpPr>
        <p:sp>
          <p:nvSpPr>
            <p:cNvPr id="9" name="Shape 7"/>
            <p:cNvSpPr/>
            <p:nvPr/>
          </p:nvSpPr>
          <p:spPr>
            <a:xfrm>
              <a:off x="274320" y="1901952"/>
              <a:ext cx="1961804" cy="594360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274320" y="1901952"/>
              <a:ext cx="64008" cy="594360"/>
            </a:xfrm>
            <a:prstGeom prst="rect">
              <a:avLst/>
            </a:prstGeom>
            <a:solidFill>
              <a:srgbClr val="E1306C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38912" y="1956816"/>
              <a:ext cx="1280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PHOTOS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38912" y="2203704"/>
              <a:ext cx="17972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id, image_url, user_id, created_at</a:t>
              </a:r>
              <a:endParaRPr lang="en-US" sz="10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0BF77BF-EC41-5C16-D505-9C3687A68C32}"/>
              </a:ext>
            </a:extLst>
          </p:cNvPr>
          <p:cNvGrpSpPr/>
          <p:nvPr/>
        </p:nvGrpSpPr>
        <p:grpSpPr>
          <a:xfrm>
            <a:off x="6675119" y="2946879"/>
            <a:ext cx="2103120" cy="594360"/>
            <a:chOff x="274320" y="2596896"/>
            <a:chExt cx="1764792" cy="594360"/>
          </a:xfrm>
        </p:grpSpPr>
        <p:sp>
          <p:nvSpPr>
            <p:cNvPr id="13" name="Shape 11"/>
            <p:cNvSpPr/>
            <p:nvPr/>
          </p:nvSpPr>
          <p:spPr>
            <a:xfrm>
              <a:off x="274320" y="2596896"/>
              <a:ext cx="1764792" cy="594360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274320" y="2596896"/>
              <a:ext cx="64008" cy="594360"/>
            </a:xfrm>
            <a:prstGeom prst="rect">
              <a:avLst/>
            </a:prstGeom>
            <a:solidFill>
              <a:srgbClr val="F77737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38912" y="2651760"/>
              <a:ext cx="1280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LIKES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38912" y="2898648"/>
              <a:ext cx="1600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user_id, photo_id, created_at</a:t>
              </a:r>
              <a:endParaRPr lang="en-US" sz="10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BF42A9D-EE38-EE9E-44A8-EE6E35B32900}"/>
              </a:ext>
            </a:extLst>
          </p:cNvPr>
          <p:cNvGrpSpPr/>
          <p:nvPr/>
        </p:nvGrpSpPr>
        <p:grpSpPr>
          <a:xfrm>
            <a:off x="6675119" y="1557390"/>
            <a:ext cx="2103120" cy="1280991"/>
            <a:chOff x="274320" y="3308466"/>
            <a:chExt cx="2103120" cy="1280991"/>
          </a:xfrm>
        </p:grpSpPr>
        <p:sp>
          <p:nvSpPr>
            <p:cNvPr id="17" name="Shape 15"/>
            <p:cNvSpPr/>
            <p:nvPr/>
          </p:nvSpPr>
          <p:spPr>
            <a:xfrm>
              <a:off x="274320" y="3308466"/>
              <a:ext cx="2103120" cy="594360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38912" y="3618531"/>
              <a:ext cx="193852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id, comment_text, user_id, photo_id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274320" y="3308466"/>
              <a:ext cx="64008" cy="594360"/>
            </a:xfrm>
            <a:prstGeom prst="rect">
              <a:avLst/>
            </a:prstGeom>
            <a:solidFill>
              <a:srgbClr val="833AB4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38912" y="3355017"/>
              <a:ext cx="1280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COMMENTS</a:t>
              </a:r>
              <a:endParaRPr lang="en-US" sz="1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74320" y="3995097"/>
              <a:ext cx="2103120" cy="594360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274320" y="3986784"/>
              <a:ext cx="64008" cy="594360"/>
            </a:xfrm>
            <a:prstGeom prst="rect">
              <a:avLst/>
            </a:prstGeom>
            <a:solidFill>
              <a:srgbClr val="E1306C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38912" y="4041648"/>
              <a:ext cx="1280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FOLLOWS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38912" y="4288536"/>
              <a:ext cx="193852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follower_id, followee_id, created_at</a:t>
              </a:r>
              <a:endParaRPr lang="en-US" sz="1000" dirty="0"/>
            </a:p>
          </p:txBody>
        </p:sp>
      </p:grpSp>
      <p:sp>
        <p:nvSpPr>
          <p:cNvPr id="25" name="Shape 23"/>
          <p:cNvSpPr/>
          <p:nvPr/>
        </p:nvSpPr>
        <p:spPr>
          <a:xfrm>
            <a:off x="4655126" y="1556149"/>
            <a:ext cx="1828799" cy="59436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5127" y="1556149"/>
            <a:ext cx="64007" cy="590206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27" name="Text 25"/>
          <p:cNvSpPr/>
          <p:nvPr/>
        </p:nvSpPr>
        <p:spPr>
          <a:xfrm>
            <a:off x="4819719" y="1627639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9719" y="1882840"/>
            <a:ext cx="166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tag_name, created_at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55127" y="2242780"/>
            <a:ext cx="1828798" cy="59436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55127" y="2226154"/>
            <a:ext cx="64008" cy="594360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1" name="Text 29"/>
          <p:cNvSpPr/>
          <p:nvPr/>
        </p:nvSpPr>
        <p:spPr>
          <a:xfrm>
            <a:off x="4819719" y="228101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PHOTO_TAGS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19719" y="2544532"/>
            <a:ext cx="166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photo_id, tag_id</a:t>
            </a:r>
            <a:endParaRPr lang="en-US" sz="10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0A7B45-F1A3-D6BE-5A61-DB9940C9041B}"/>
              </a:ext>
            </a:extLst>
          </p:cNvPr>
          <p:cNvGrpSpPr/>
          <p:nvPr/>
        </p:nvGrpSpPr>
        <p:grpSpPr>
          <a:xfrm>
            <a:off x="4663439" y="3635995"/>
            <a:ext cx="4123113" cy="1339596"/>
            <a:chOff x="4663439" y="2596896"/>
            <a:chExt cx="4123113" cy="1339596"/>
          </a:xfrm>
        </p:grpSpPr>
        <p:sp>
          <p:nvSpPr>
            <p:cNvPr id="33" name="Shape 31"/>
            <p:cNvSpPr/>
            <p:nvPr/>
          </p:nvSpPr>
          <p:spPr>
            <a:xfrm>
              <a:off x="4663439" y="2596896"/>
              <a:ext cx="4123113" cy="1339596"/>
            </a:xfrm>
            <a:prstGeom prst="rect">
              <a:avLst/>
            </a:prstGeom>
            <a:solidFill>
              <a:srgbClr val="0D0D1A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4" name="Text 32"/>
            <p:cNvSpPr/>
            <p:nvPr/>
          </p:nvSpPr>
          <p:spPr>
            <a:xfrm>
              <a:off x="4800600" y="2633472"/>
              <a:ext cx="38404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Key Relationships</a:t>
              </a:r>
              <a:endParaRPr lang="en-US" sz="14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800601" y="2980944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B0B8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users → photos   (1 : Many)</a:t>
              </a:r>
              <a:endParaRPr lang="en-US" sz="11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800601" y="3282696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B0B8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photos → likes   (1 : Many)</a:t>
              </a:r>
              <a:endParaRPr lang="en-US" sz="11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6691744" y="2980944"/>
              <a:ext cx="199505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B0B8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photos → comments (1 : Many)</a:t>
              </a:r>
              <a:endParaRPr lang="en-US" sz="11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691745" y="3264408"/>
              <a:ext cx="189114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B0B8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photos ↔ tags via photo_tags</a:t>
              </a:r>
              <a:endParaRPr lang="en-US" sz="11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5775267" y="3584448"/>
              <a:ext cx="189114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B0B8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users ↔ users via follows</a:t>
              </a:r>
              <a:endParaRPr lang="en-US" sz="1150" dirty="0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091509-FC88-0B70-3D59-68B4CA0EE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29" y="1281825"/>
            <a:ext cx="4103702" cy="3643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 from raw data to actionable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2697480" cy="164592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438912" cy="438912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389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65376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duplicates (ROW_NUMBER) and NULLs (WHERE IS NULL) across all 7 tables. Dataset was found clean — no duplicates or nulls.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207008"/>
            <a:ext cx="2697480" cy="164592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438912" cy="438912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04488" y="1389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865376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CTEs, LEFT JOINs, GROUP BY, window functions (DENSE_RANK, RANK) to compute activity metrics per user.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207008"/>
            <a:ext cx="2697480" cy="164592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371600"/>
            <a:ext cx="438912" cy="438912"/>
          </a:xfrm>
          <a:prstGeom prst="ellipse">
            <a:avLst/>
          </a:prstGeom>
          <a:solidFill>
            <a:srgbClr val="F77737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76288" y="1389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Scoring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865376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engagement = likes + comments + posts. Ranked users using RANK() &amp; DENSE_RANK() to identify power and inactive users.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697480" cy="164592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182112"/>
            <a:ext cx="438912" cy="438912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Hashtag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675888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average likes per hashtag using CTEs on photo_tags &amp; tags tables; ranked top-10 by engagement.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97480" cy="164592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182112"/>
            <a:ext cx="438912" cy="438912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04488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Analysis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3675888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posting hour from timestamps to find peak engagement windows. 7 PM identified as the highest-engagement hour.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017520"/>
            <a:ext cx="2697480" cy="164592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182112"/>
            <a:ext cx="438912" cy="438912"/>
          </a:xfrm>
          <a:prstGeom prst="ellipse">
            <a:avLst/>
          </a:prstGeom>
          <a:solidFill>
            <a:srgbClr val="F77737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&amp; Strategy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675888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SQL outputs into targeted marketing recommendations covering content, ads, retention, and acquisition.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Active Are Users Across the Platform?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33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566160"/>
          </a:xfrm>
          <a:prstGeom prst="rect">
            <a:avLst/>
          </a:prstGeom>
          <a:solidFill>
            <a:srgbClr val="F3F0FF"/>
          </a:solidFill>
          <a:ln w="12700">
            <a:solidFill>
              <a:srgbClr val="D5C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64008" cy="3566160"/>
          </a:xfrm>
          <a:prstGeom prst="rect">
            <a:avLst/>
          </a:prstGeom>
          <a:solidFill>
            <a:srgbClr val="833AB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98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33A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&amp; Reasoning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719072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Logic: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JOINs across users → photos, likes, comments tables to include all users, even inactive ones.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COUNT(DISTINCT) per metric to avoid double-counting.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cohort of power users drives the majority of all platform activity — classic Pareto distribution.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246120" y="1115568"/>
          <a:ext cx="55778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3246120" y="4343400"/>
            <a:ext cx="2651760" cy="594360"/>
          </a:xfrm>
          <a:prstGeom prst="rect">
            <a:avLst/>
          </a:prstGeom>
          <a:solidFill>
            <a:srgbClr val="F3F0FF"/>
          </a:solidFill>
          <a:ln w="12700">
            <a:solidFill>
              <a:srgbClr val="D5C5F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37560" y="43708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users generate ~60% of all posts &amp; engagement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0760" y="4343400"/>
            <a:ext cx="2651760" cy="594360"/>
          </a:xfrm>
          <a:prstGeom prst="rect">
            <a:avLst/>
          </a:prstGeom>
          <a:solidFill>
            <a:srgbClr val="FFF0F6"/>
          </a:solidFill>
          <a:ln w="12700">
            <a:solidFill>
              <a:srgbClr val="F9BF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72200" y="43708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users show little-to-no activity — ripe for re-engagement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Are the Highest-Engagement Users?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566160"/>
          </a:xfrm>
          <a:prstGeom prst="rect">
            <a:avLst/>
          </a:prstGeom>
          <a:solidFill>
            <a:srgbClr val="FFF0F6"/>
          </a:solidFill>
          <a:ln w="12700">
            <a:solidFill>
              <a:srgbClr val="F9BF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64008" cy="3566160"/>
          </a:xfrm>
          <a:prstGeom prst="rect">
            <a:avLst/>
          </a:prstGeom>
          <a:solidFill>
            <a:srgbClr val="E1306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98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30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&amp; Reasoning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719072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Logic: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CTEs computed total likes received and total comments received per user.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via INNER JOIN on username, then summed to get Engagement Rate.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top 20 using DENSE_RANK() in descending order.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users show engagement rates 4–6× the platform average, making them ideal ambassador candidates.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246120" y="1115568"/>
          <a:ext cx="55778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3246120" y="4343400"/>
            <a:ext cx="1737360" cy="594360"/>
          </a:xfrm>
          <a:prstGeom prst="rect">
            <a:avLst/>
          </a:prstGeom>
          <a:solidFill>
            <a:srgbClr val="FFF0F6"/>
          </a:solidFill>
          <a:ln w="12700">
            <a:solidFill>
              <a:srgbClr val="F9BF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46120" y="43525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30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246120" y="4663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120640" y="4343400"/>
            <a:ext cx="1737360" cy="594360"/>
          </a:xfrm>
          <a:prstGeom prst="rect">
            <a:avLst/>
          </a:prstGeom>
          <a:solidFill>
            <a:srgbClr val="FFF0F6"/>
          </a:solidFill>
          <a:ln w="12700">
            <a:solidFill>
              <a:srgbClr val="F9B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0" y="43525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30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1720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120640" y="4663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User Score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995160" y="4343400"/>
            <a:ext cx="1737360" cy="594360"/>
          </a:xfrm>
          <a:prstGeom prst="rect">
            <a:avLst/>
          </a:prstGeom>
          <a:solidFill>
            <a:srgbClr val="FFF0F6"/>
          </a:solidFill>
          <a:ln w="12700">
            <a:solidFill>
              <a:srgbClr val="F9BF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95160" y="43525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30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4–6×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995160" y="4663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Users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Hashtags Drive the Most Likes?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77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566160"/>
          </a:xfrm>
          <a:prstGeom prst="rect">
            <a:avLst/>
          </a:prstGeom>
          <a:solidFill>
            <a:srgbClr val="FFF8EE"/>
          </a:solidFill>
          <a:ln w="12700">
            <a:solidFill>
              <a:srgbClr val="FAD9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64008" cy="3566160"/>
          </a:xfrm>
          <a:prstGeom prst="rect">
            <a:avLst/>
          </a:prstGeom>
          <a:solidFill>
            <a:srgbClr val="F7773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98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7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&amp; Reasoning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719072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Logic: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(Likes_Count) computes total likes per photo_id.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query joins tags → photo_tags → Likes_Count, groups by tag_name, computes AVG(likes).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sorted descending by Avg_likes to surface top hashtags.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Beauty, Delicious, and Foodie dominate — content aligned to these themes will maximise organic reach.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246120" y="1115568"/>
          <a:ext cx="55778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3246120" y="4315968"/>
            <a:ext cx="5577840" cy="658368"/>
          </a:xfrm>
          <a:prstGeom prst="rect">
            <a:avLst/>
          </a:prstGeom>
          <a:solidFill>
            <a:srgbClr val="FFF8EE"/>
          </a:solidFill>
          <a:ln w="12700">
            <a:solidFill>
              <a:srgbClr val="FAD9A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themes — Beauty · Food · Photography — account for the highest average engagement.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ad creative and influencer briefs around these content pillars.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Are Our Most Loyal &amp; Valuable Users?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33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QUESTION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2999"/>
            <a:ext cx="5243668" cy="947650"/>
          </a:xfrm>
          <a:prstGeom prst="rect">
            <a:avLst/>
          </a:prstGeom>
          <a:solidFill>
            <a:srgbClr val="F3F0FF"/>
          </a:solidFill>
          <a:ln w="12700">
            <a:solidFill>
              <a:srgbClr val="D5C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19" y="1142999"/>
            <a:ext cx="70657" cy="947649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57299"/>
            <a:ext cx="4753213" cy="114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33A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4976" y="1477882"/>
            <a:ext cx="48837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CTEs computed likes, comments, posts, photo tags, followers,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followings per user. Engagement score = likes + comments + posts.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in DESC order identifies top users.</a:t>
            </a:r>
            <a:endParaRPr lang="en-US" sz="10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1169804173"/>
              </p:ext>
            </p:extLst>
          </p:nvPr>
        </p:nvGraphicFramePr>
        <p:xfrm>
          <a:off x="640076" y="2196931"/>
          <a:ext cx="4570337" cy="2629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897879" y="1424386"/>
            <a:ext cx="1371600" cy="150876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97879" y="1424386"/>
            <a:ext cx="1371600" cy="54864"/>
          </a:xfrm>
          <a:prstGeom prst="rect">
            <a:avLst/>
          </a:prstGeom>
          <a:solidFill>
            <a:srgbClr val="833AB4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9" y="156154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89319" y="197302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Badges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89319" y="229306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"Top Creator" &amp; "Power User" badges for public recognition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360919" y="1424386"/>
            <a:ext cx="1371600" cy="150876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60919" y="1424386"/>
            <a:ext cx="1371600" cy="54864"/>
          </a:xfrm>
          <a:prstGeom prst="rect">
            <a:avLst/>
          </a:prstGeom>
          <a:solidFill>
            <a:srgbClr val="E1306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39" y="156154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52359" y="197302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Feature Access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452359" y="229306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 &amp; scheduling tools for top users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897879" y="3241965"/>
            <a:ext cx="1371600" cy="150876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897879" y="3241965"/>
            <a:ext cx="1371600" cy="54864"/>
          </a:xfrm>
          <a:prstGeom prst="rect">
            <a:avLst/>
          </a:prstGeom>
          <a:solidFill>
            <a:srgbClr val="F77737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799" y="3379125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89319" y="3790605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Exclusive Events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989319" y="4110645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Virtual/in-person networking events for top performers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360919" y="3241965"/>
            <a:ext cx="1371600" cy="1508760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60919" y="3241965"/>
            <a:ext cx="1371600" cy="54864"/>
          </a:xfrm>
          <a:prstGeom prst="rect">
            <a:avLst/>
          </a:prstGeom>
          <a:solidFill>
            <a:srgbClr val="833AB4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39" y="3379125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52359" y="3790605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Discounts &amp; Credits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452359" y="4110645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credits &amp; partner discounts to reward loyalty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897879" y="982979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&amp; Incentive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We Re-engage Inactive Users?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97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QUESTION 2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818165451"/>
              </p:ext>
            </p:extLst>
          </p:nvPr>
        </p:nvGraphicFramePr>
        <p:xfrm>
          <a:off x="232754" y="2251087"/>
          <a:ext cx="4505081" cy="2322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26DEEC55-6BFD-7321-5ECF-2048AE252C46}"/>
              </a:ext>
            </a:extLst>
          </p:cNvPr>
          <p:cNvGrpSpPr/>
          <p:nvPr/>
        </p:nvGrpSpPr>
        <p:grpSpPr>
          <a:xfrm>
            <a:off x="5045204" y="1384072"/>
            <a:ext cx="3824476" cy="684967"/>
            <a:chOff x="4892040" y="1331701"/>
            <a:chExt cx="3977640" cy="684967"/>
          </a:xfrm>
        </p:grpSpPr>
        <p:sp>
          <p:nvSpPr>
            <p:cNvPr id="9" name="Shape 6"/>
            <p:cNvSpPr/>
            <p:nvPr/>
          </p:nvSpPr>
          <p:spPr>
            <a:xfrm>
              <a:off x="4892040" y="1331702"/>
              <a:ext cx="3977640" cy="684966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0" name="Shape 7"/>
            <p:cNvSpPr/>
            <p:nvPr/>
          </p:nvSpPr>
          <p:spPr>
            <a:xfrm>
              <a:off x="4892040" y="1331701"/>
              <a:ext cx="61479" cy="684965"/>
            </a:xfrm>
            <a:prstGeom prst="rect">
              <a:avLst/>
            </a:prstGeom>
            <a:solidFill>
              <a:srgbClr val="E1306C"/>
            </a:solidFill>
            <a:ln/>
          </p:spPr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95284" y="1527886"/>
              <a:ext cx="320040" cy="320040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5222052" y="1335857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Personalised Emails</a:t>
              </a:r>
              <a:endParaRPr lang="en-US" sz="12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5260093" y="1606859"/>
              <a:ext cx="3291840" cy="3208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 missed popular content &amp; tailored </a:t>
              </a: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recommendations based on past behaviour.</a:t>
              </a:r>
              <a:endParaRPr lang="en-US" sz="10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CCAC9A-4D14-AB7C-EBC6-882BFA5557B3}"/>
              </a:ext>
            </a:extLst>
          </p:cNvPr>
          <p:cNvGrpSpPr/>
          <p:nvPr/>
        </p:nvGrpSpPr>
        <p:grpSpPr>
          <a:xfrm>
            <a:off x="5045204" y="2196221"/>
            <a:ext cx="3824476" cy="684966"/>
            <a:chOff x="4892040" y="2143850"/>
            <a:chExt cx="3977640" cy="579399"/>
          </a:xfrm>
        </p:grpSpPr>
        <p:sp>
          <p:nvSpPr>
            <p:cNvPr id="14" name="Shape 10"/>
            <p:cNvSpPr/>
            <p:nvPr/>
          </p:nvSpPr>
          <p:spPr>
            <a:xfrm>
              <a:off x="4892040" y="2156321"/>
              <a:ext cx="3977640" cy="566928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5" name="Shape 11"/>
            <p:cNvSpPr/>
            <p:nvPr/>
          </p:nvSpPr>
          <p:spPr>
            <a:xfrm>
              <a:off x="4892040" y="2156321"/>
              <a:ext cx="64008" cy="566928"/>
            </a:xfrm>
            <a:prstGeom prst="rect">
              <a:avLst/>
            </a:prstGeom>
            <a:solidFill>
              <a:srgbClr val="833AB4"/>
            </a:solidFill>
            <a:ln/>
          </p:spPr>
        </p:sp>
        <p:pic>
          <p:nvPicPr>
            <p:cNvPr id="16" name="Image 1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94041" y="2266049"/>
              <a:ext cx="320040" cy="320040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5213742" y="2143850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In-App Nudges</a:t>
              </a:r>
              <a:endParaRPr lang="en-US" sz="12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5267210" y="2400460"/>
              <a:ext cx="3291840" cy="2693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Milestone alerts (10 away from 100 followers)</a:t>
              </a: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to motivate return of inactive users </a:t>
              </a:r>
              <a:endParaRPr lang="en-US" sz="10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566979-1DFD-D4FE-E317-5526D9F685D6}"/>
              </a:ext>
            </a:extLst>
          </p:cNvPr>
          <p:cNvGrpSpPr/>
          <p:nvPr/>
        </p:nvGrpSpPr>
        <p:grpSpPr>
          <a:xfrm>
            <a:off x="5045204" y="3010868"/>
            <a:ext cx="3824476" cy="670222"/>
            <a:chOff x="4892040" y="3433986"/>
            <a:chExt cx="3977640" cy="571086"/>
          </a:xfrm>
        </p:grpSpPr>
        <p:sp>
          <p:nvSpPr>
            <p:cNvPr id="19" name="Shape 14"/>
            <p:cNvSpPr/>
            <p:nvPr/>
          </p:nvSpPr>
          <p:spPr>
            <a:xfrm>
              <a:off x="4892040" y="3438144"/>
              <a:ext cx="3977640" cy="566928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Shape 15"/>
            <p:cNvSpPr/>
            <p:nvPr/>
          </p:nvSpPr>
          <p:spPr>
            <a:xfrm>
              <a:off x="4892040" y="3438144"/>
              <a:ext cx="64008" cy="566928"/>
            </a:xfrm>
            <a:prstGeom prst="rect">
              <a:avLst/>
            </a:prstGeom>
            <a:solidFill>
              <a:srgbClr val="F77737"/>
            </a:solidFill>
            <a:ln/>
          </p:spPr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69099" y="3547872"/>
              <a:ext cx="354535" cy="320040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5255303" y="3433986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Gamification Challenges</a:t>
              </a:r>
              <a:endParaRPr lang="en-US" sz="1200" dirty="0"/>
            </a:p>
          </p:txBody>
        </p:sp>
        <p:sp>
          <p:nvSpPr>
            <p:cNvPr id="23" name="Text 17"/>
            <p:cNvSpPr/>
            <p:nvPr/>
          </p:nvSpPr>
          <p:spPr>
            <a:xfrm>
              <a:off x="5246995" y="3698542"/>
              <a:ext cx="3291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Weekly posting streaks and contests </a:t>
              </a: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('Most Liked Photo') with small rewards.</a:t>
              </a:r>
              <a:endParaRPr lang="en-US" sz="10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3C97BFF-38A6-AAA5-F93D-423747A69CC8}"/>
              </a:ext>
            </a:extLst>
          </p:cNvPr>
          <p:cNvGrpSpPr/>
          <p:nvPr/>
        </p:nvGrpSpPr>
        <p:grpSpPr>
          <a:xfrm>
            <a:off x="5045204" y="3818013"/>
            <a:ext cx="3824476" cy="756481"/>
            <a:chOff x="4892040" y="4096512"/>
            <a:chExt cx="3977640" cy="566928"/>
          </a:xfrm>
        </p:grpSpPr>
        <p:sp>
          <p:nvSpPr>
            <p:cNvPr id="24" name="Shape 18"/>
            <p:cNvSpPr/>
            <p:nvPr/>
          </p:nvSpPr>
          <p:spPr>
            <a:xfrm>
              <a:off x="4892040" y="4096512"/>
              <a:ext cx="3977640" cy="566928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5" name="Shape 19"/>
            <p:cNvSpPr/>
            <p:nvPr/>
          </p:nvSpPr>
          <p:spPr>
            <a:xfrm>
              <a:off x="4892040" y="4096512"/>
              <a:ext cx="64008" cy="566928"/>
            </a:xfrm>
            <a:prstGeom prst="rect">
              <a:avLst/>
            </a:prstGeom>
            <a:solidFill>
              <a:srgbClr val="E1306C"/>
            </a:solidFill>
            <a:ln/>
          </p:spPr>
        </p:sp>
        <p:pic>
          <p:nvPicPr>
            <p:cNvPr id="26" name="Image 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69103" y="4270247"/>
              <a:ext cx="354534" cy="256032"/>
            </a:xfrm>
            <a:prstGeom prst="rect">
              <a:avLst/>
            </a:prstGeom>
          </p:spPr>
        </p:pic>
        <p:sp>
          <p:nvSpPr>
            <p:cNvPr id="27" name="Text 20"/>
            <p:cNvSpPr/>
            <p:nvPr/>
          </p:nvSpPr>
          <p:spPr>
            <a:xfrm>
              <a:off x="5241076" y="4100667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Content Templates</a:t>
              </a:r>
              <a:endParaRPr lang="en-US" sz="1200" dirty="0"/>
            </a:p>
          </p:txBody>
        </p:sp>
        <p:sp>
          <p:nvSpPr>
            <p:cNvPr id="28" name="Text 21"/>
            <p:cNvSpPr/>
            <p:nvPr/>
          </p:nvSpPr>
          <p:spPr>
            <a:xfrm>
              <a:off x="5275525" y="4372494"/>
              <a:ext cx="3291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Provide ready-to-post prompts and </a:t>
              </a: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re-onboarding guides for returning users.</a:t>
              </a:r>
              <a:endParaRPr lang="en-US" sz="1000" dirty="0"/>
            </a:p>
          </p:txBody>
        </p:sp>
      </p:grpSp>
      <p:sp>
        <p:nvSpPr>
          <p:cNvPr id="29" name="Text 22"/>
          <p:cNvSpPr/>
          <p:nvPr/>
        </p:nvSpPr>
        <p:spPr>
          <a:xfrm>
            <a:off x="5104316" y="999193"/>
            <a:ext cx="37653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2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Re-engagement Strategies</a:t>
            </a:r>
            <a:endParaRPr lang="en-US" sz="1300" dirty="0">
              <a:solidFill>
                <a:srgbClr val="E12F6C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07400" y="1128862"/>
            <a:ext cx="4572000" cy="944210"/>
          </a:xfrm>
          <a:prstGeom prst="rect">
            <a:avLst/>
          </a:prstGeom>
          <a:solidFill>
            <a:srgbClr val="FFF0F6"/>
          </a:solidFill>
          <a:ln w="12700">
            <a:solidFill>
              <a:srgbClr val="F9B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7816" y="1128869"/>
            <a:ext cx="4571584" cy="60631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7" name="Text 5"/>
          <p:cNvSpPr/>
          <p:nvPr/>
        </p:nvSpPr>
        <p:spPr>
          <a:xfrm>
            <a:off x="249625" y="1410072"/>
            <a:ext cx="4554092" cy="757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engagement scoring as SQ1 but ranked ASCENDING (RANK() ASC)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surface lowest-engagement users. COALESCE() fills NULLs with 0.</a:t>
            </a:r>
            <a:endParaRPr lang="en-US" sz="10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539B9499-25AE-D185-09F1-1FAB322DA351}"/>
              </a:ext>
            </a:extLst>
          </p:cNvPr>
          <p:cNvSpPr/>
          <p:nvPr/>
        </p:nvSpPr>
        <p:spPr>
          <a:xfrm>
            <a:off x="448887" y="1326950"/>
            <a:ext cx="4004241" cy="129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2F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1300" dirty="0">
              <a:solidFill>
                <a:srgbClr val="E12F6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&amp; What Content Drives Highest Engagement?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77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QUESTION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FFF8EE"/>
          </a:solidFill>
          <a:ln w="12700">
            <a:solidFill>
              <a:srgbClr val="FAD9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8595360" cy="54864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43584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Two CTEs (Likes, Comments) summed per photo_id; joined with photo posting timestamps. EXTRACT(HOUR) groups activity by hour to find peak windows. Avg engagement = (total likes + comments) / total posts per hour.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2029968"/>
          <a:ext cx="5303520" cy="2724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B5A3F67F-6774-1FFB-4359-6FAAE4A4F104}"/>
              </a:ext>
            </a:extLst>
          </p:cNvPr>
          <p:cNvGrpSpPr/>
          <p:nvPr/>
        </p:nvGrpSpPr>
        <p:grpSpPr>
          <a:xfrm>
            <a:off x="5806440" y="2139696"/>
            <a:ext cx="3017520" cy="2578608"/>
            <a:chOff x="5806440" y="2029968"/>
            <a:chExt cx="3017520" cy="2578608"/>
          </a:xfrm>
        </p:grpSpPr>
        <p:sp>
          <p:nvSpPr>
            <p:cNvPr id="9" name="Shape 6"/>
            <p:cNvSpPr/>
            <p:nvPr/>
          </p:nvSpPr>
          <p:spPr>
            <a:xfrm>
              <a:off x="5806440" y="2029968"/>
              <a:ext cx="3017520" cy="749808"/>
            </a:xfrm>
            <a:prstGeom prst="rect">
              <a:avLst/>
            </a:prstGeom>
            <a:solidFill>
              <a:srgbClr val="FFF8EE"/>
            </a:solidFill>
            <a:ln w="12700">
              <a:solidFill>
                <a:srgbClr val="FAD9A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Text 7"/>
            <p:cNvSpPr/>
            <p:nvPr/>
          </p:nvSpPr>
          <p:spPr>
            <a:xfrm>
              <a:off x="5897880" y="2048256"/>
              <a:ext cx="28346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7773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7 PM</a:t>
              </a:r>
              <a:endParaRPr lang="en-US" sz="26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897880" y="2423160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 Engagement Hour</a:t>
              </a:r>
              <a:endParaRPr lang="en-US" sz="105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5806440" y="2944368"/>
              <a:ext cx="3017520" cy="749808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Text 10"/>
            <p:cNvSpPr/>
            <p:nvPr/>
          </p:nvSpPr>
          <p:spPr>
            <a:xfrm>
              <a:off x="5897880" y="2962656"/>
              <a:ext cx="28346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63</a:t>
              </a:r>
              <a:endParaRPr lang="en-US" sz="26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897880" y="3337560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 Avg Engagement Score</a:t>
              </a:r>
              <a:endParaRPr lang="en-US" sz="105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5806440" y="3858768"/>
              <a:ext cx="3017520" cy="749808"/>
            </a:xfrm>
            <a:prstGeom prst="rect">
              <a:avLst/>
            </a:prstGeom>
            <a:solidFill>
              <a:srgbClr val="F4F4F8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Text 13"/>
            <p:cNvSpPr/>
            <p:nvPr/>
          </p:nvSpPr>
          <p:spPr>
            <a:xfrm>
              <a:off x="5897880" y="3877056"/>
              <a:ext cx="28346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E1B4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257</a:t>
              </a:r>
              <a:endParaRPr lang="en-US" sz="2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897880" y="4251960"/>
              <a:ext cx="2834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 Analysed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91440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91440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4" name="Shape 2"/>
          <p:cNvSpPr/>
          <p:nvPr/>
        </p:nvSpPr>
        <p:spPr>
          <a:xfrm>
            <a:off x="6089904" y="0"/>
            <a:ext cx="3054096" cy="91440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RECOMMENDATION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Improvement Roadmap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upgrades to close gaps, grow the platform, and future-proof engagement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2724912" cy="1572768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2724912" cy="64008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" y="1426464"/>
            <a:ext cx="384048" cy="384048"/>
          </a:xfrm>
          <a:prstGeom prst="ellipse">
            <a:avLst/>
          </a:prstGeom>
          <a:solidFill>
            <a:srgbClr val="833AB4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19" y="1492133"/>
            <a:ext cx="266007" cy="26600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1408176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Engagement Dashboard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2336" y="1901952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dashboard surfacing hourly spikes, trending hashtags &amp; top posts — enabling the team to react to viral moments in minutes.</a:t>
            </a:r>
            <a:endParaRPr lang="en-US" sz="95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3B991BD-B748-447D-6952-F6528C630A3C}"/>
              </a:ext>
            </a:extLst>
          </p:cNvPr>
          <p:cNvGrpSpPr/>
          <p:nvPr/>
        </p:nvGrpSpPr>
        <p:grpSpPr>
          <a:xfrm>
            <a:off x="402336" y="2573619"/>
            <a:ext cx="822960" cy="201168"/>
            <a:chOff x="402336" y="2615184"/>
            <a:chExt cx="822960" cy="201168"/>
          </a:xfrm>
        </p:grpSpPr>
        <p:sp>
          <p:nvSpPr>
            <p:cNvPr id="14" name="Shape 11"/>
            <p:cNvSpPr/>
            <p:nvPr/>
          </p:nvSpPr>
          <p:spPr>
            <a:xfrm>
              <a:off x="402336" y="2615184"/>
              <a:ext cx="822960" cy="201168"/>
            </a:xfrm>
            <a:prstGeom prst="rect">
              <a:avLst/>
            </a:prstGeom>
            <a:solidFill>
              <a:srgbClr val="833AB4">
                <a:alpha val="18000"/>
              </a:srgbClr>
            </a:solidFill>
            <a:ln w="12700">
              <a:solidFill>
                <a:srgbClr val="833AB4">
                  <a:alpha val="45000"/>
                </a:srgbClr>
              </a:solidFill>
              <a:prstDash val="solid"/>
            </a:ln>
          </p:spPr>
        </p:sp>
        <p:sp>
          <p:nvSpPr>
            <p:cNvPr id="15" name="Text 12"/>
            <p:cNvSpPr/>
            <p:nvPr/>
          </p:nvSpPr>
          <p:spPr>
            <a:xfrm>
              <a:off x="402336" y="2615184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833AB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Analytics</a:t>
              </a:r>
              <a:endParaRPr lang="en-US" sz="800" dirty="0"/>
            </a:p>
          </p:txBody>
        </p:sp>
      </p:grpSp>
      <p:sp>
        <p:nvSpPr>
          <p:cNvPr id="16" name="Shape 13"/>
          <p:cNvSpPr/>
          <p:nvPr/>
        </p:nvSpPr>
        <p:spPr>
          <a:xfrm>
            <a:off x="3246120" y="1298448"/>
            <a:ext cx="2724912" cy="1572768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1298448"/>
            <a:ext cx="2724912" cy="64008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18" name="Shape 15"/>
          <p:cNvSpPr/>
          <p:nvPr/>
        </p:nvSpPr>
        <p:spPr>
          <a:xfrm>
            <a:off x="3374136" y="1426464"/>
            <a:ext cx="384048" cy="384048"/>
          </a:xfrm>
          <a:prstGeom prst="ellipse">
            <a:avLst/>
          </a:prstGeom>
          <a:solidFill>
            <a:srgbClr val="E1306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507" y="1483821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40480" y="1408176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Re-engagement Triggers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74136" y="1860387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inactivity detection (14-day silence) auto-fires personalised push/email sequences, scaling retention ops without manual effort.</a:t>
            </a:r>
            <a:endParaRPr lang="en-US" sz="95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788A4EF-7B4D-FCAF-4355-38C1AD314B02}"/>
              </a:ext>
            </a:extLst>
          </p:cNvPr>
          <p:cNvGrpSpPr/>
          <p:nvPr/>
        </p:nvGrpSpPr>
        <p:grpSpPr>
          <a:xfrm>
            <a:off x="3374136" y="2573619"/>
            <a:ext cx="822960" cy="201168"/>
            <a:chOff x="3374136" y="2615184"/>
            <a:chExt cx="822960" cy="201168"/>
          </a:xfrm>
        </p:grpSpPr>
        <p:sp>
          <p:nvSpPr>
            <p:cNvPr id="22" name="Shape 18"/>
            <p:cNvSpPr/>
            <p:nvPr/>
          </p:nvSpPr>
          <p:spPr>
            <a:xfrm>
              <a:off x="3374136" y="2615184"/>
              <a:ext cx="822960" cy="201168"/>
            </a:xfrm>
            <a:prstGeom prst="rect">
              <a:avLst/>
            </a:prstGeom>
            <a:solidFill>
              <a:srgbClr val="E1306C">
                <a:alpha val="18000"/>
              </a:srgbClr>
            </a:solidFill>
            <a:ln w="12700">
              <a:solidFill>
                <a:srgbClr val="E1306C">
                  <a:alpha val="45000"/>
                </a:srgbClr>
              </a:solidFill>
              <a:prstDash val="solid"/>
            </a:ln>
          </p:spPr>
        </p:sp>
        <p:sp>
          <p:nvSpPr>
            <p:cNvPr id="23" name="Text 19"/>
            <p:cNvSpPr/>
            <p:nvPr/>
          </p:nvSpPr>
          <p:spPr>
            <a:xfrm>
              <a:off x="3374136" y="2615184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1306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Automation</a:t>
              </a:r>
              <a:endParaRPr lang="en-US" sz="800" dirty="0"/>
            </a:p>
          </p:txBody>
        </p:sp>
      </p:grpSp>
      <p:sp>
        <p:nvSpPr>
          <p:cNvPr id="24" name="Shape 20"/>
          <p:cNvSpPr/>
          <p:nvPr/>
        </p:nvSpPr>
        <p:spPr>
          <a:xfrm>
            <a:off x="6217920" y="1298448"/>
            <a:ext cx="2724912" cy="1572768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17920" y="1298448"/>
            <a:ext cx="2724912" cy="64008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26" name="Shape 22"/>
          <p:cNvSpPr/>
          <p:nvPr/>
        </p:nvSpPr>
        <p:spPr>
          <a:xfrm>
            <a:off x="6345936" y="1426464"/>
            <a:ext cx="384048" cy="384048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994" y="1473014"/>
            <a:ext cx="293440" cy="2934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12280" y="1408176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Hashtag Insights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345936" y="1852074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top-performing hashtags at post creation using real-time tag-engagement data — lowering the barrier for new creators.</a:t>
            </a:r>
            <a:endParaRPr lang="en-US" sz="95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D368B29-BA27-F8C8-39C7-3D51E2032677}"/>
              </a:ext>
            </a:extLst>
          </p:cNvPr>
          <p:cNvGrpSpPr/>
          <p:nvPr/>
        </p:nvGrpSpPr>
        <p:grpSpPr>
          <a:xfrm>
            <a:off x="6345936" y="2565306"/>
            <a:ext cx="822960" cy="201168"/>
            <a:chOff x="6345936" y="2615184"/>
            <a:chExt cx="822960" cy="201168"/>
          </a:xfrm>
        </p:grpSpPr>
        <p:sp>
          <p:nvSpPr>
            <p:cNvPr id="30" name="Shape 25"/>
            <p:cNvSpPr/>
            <p:nvPr/>
          </p:nvSpPr>
          <p:spPr>
            <a:xfrm>
              <a:off x="6345936" y="2615184"/>
              <a:ext cx="822960" cy="201168"/>
            </a:xfrm>
            <a:prstGeom prst="rect">
              <a:avLst/>
            </a:prstGeom>
            <a:solidFill>
              <a:srgbClr val="F77737">
                <a:alpha val="18000"/>
              </a:srgbClr>
            </a:solidFill>
            <a:ln w="12700">
              <a:solidFill>
                <a:srgbClr val="F77737">
                  <a:alpha val="45000"/>
                </a:srgbClr>
              </a:solidFill>
              <a:prstDash val="solid"/>
            </a:ln>
          </p:spPr>
        </p:sp>
        <p:sp>
          <p:nvSpPr>
            <p:cNvPr id="31" name="Text 26"/>
            <p:cNvSpPr/>
            <p:nvPr/>
          </p:nvSpPr>
          <p:spPr>
            <a:xfrm>
              <a:off x="6345936" y="2615184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77737"/>
                  </a:solidFill>
                  <a:latin typeface="Calibri" pitchFamily="34" charset="0"/>
                  <a:cs typeface="Calibri" pitchFamily="34" charset="-120"/>
                </a:rPr>
                <a:t>Insights</a:t>
              </a:r>
              <a:endParaRPr lang="en-US" sz="800" dirty="0"/>
            </a:p>
          </p:txBody>
        </p:sp>
      </p:grpSp>
      <p:sp>
        <p:nvSpPr>
          <p:cNvPr id="32" name="Shape 27"/>
          <p:cNvSpPr/>
          <p:nvPr/>
        </p:nvSpPr>
        <p:spPr>
          <a:xfrm>
            <a:off x="274320" y="3017520"/>
            <a:ext cx="2724912" cy="1572768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274320" y="3017520"/>
            <a:ext cx="2724912" cy="64008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4" name="Shape 29"/>
          <p:cNvSpPr/>
          <p:nvPr/>
        </p:nvSpPr>
        <p:spPr>
          <a:xfrm>
            <a:off x="402336" y="3145536"/>
            <a:ext cx="384048" cy="384048"/>
          </a:xfrm>
          <a:prstGeom prst="ellipse">
            <a:avLst/>
          </a:prstGeom>
          <a:solidFill>
            <a:srgbClr val="833AB4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394" y="3186268"/>
            <a:ext cx="299258" cy="29925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68680" y="3127248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Tier Program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385710" y="3537894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Rising Star → Verified Creator → Brand Partner tiers with thresholds, unlocking perks, analytics tools &amp; monetisation.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3246120" y="3017520"/>
            <a:ext cx="2724912" cy="1572768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3246120" y="3017520"/>
            <a:ext cx="2724912" cy="64008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42" name="Shape 36"/>
          <p:cNvSpPr/>
          <p:nvPr/>
        </p:nvSpPr>
        <p:spPr>
          <a:xfrm>
            <a:off x="3374136" y="3145536"/>
            <a:ext cx="384048" cy="384048"/>
          </a:xfrm>
          <a:prstGeom prst="ellipse">
            <a:avLst/>
          </a:prstGeom>
          <a:solidFill>
            <a:srgbClr val="E1306C"/>
          </a:solidFill>
          <a:ln/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172968"/>
            <a:ext cx="329184" cy="32918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840480" y="3127248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Posting Time Nudges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3324258" y="3579459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users when peak engagement window nears (ex 'Followers most active in 30 min ready to post ?') to drive high-yield posting.</a:t>
            </a:r>
            <a:endParaRPr lang="en-US" sz="95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81FFD16-0A98-50FC-1EAC-0525617EE9D0}"/>
              </a:ext>
            </a:extLst>
          </p:cNvPr>
          <p:cNvGrpSpPr/>
          <p:nvPr/>
        </p:nvGrpSpPr>
        <p:grpSpPr>
          <a:xfrm>
            <a:off x="402336" y="4284378"/>
            <a:ext cx="3794760" cy="201168"/>
            <a:chOff x="402336" y="4334256"/>
            <a:chExt cx="3794760" cy="201168"/>
          </a:xfrm>
        </p:grpSpPr>
        <p:sp>
          <p:nvSpPr>
            <p:cNvPr id="38" name="Shape 32"/>
            <p:cNvSpPr/>
            <p:nvPr/>
          </p:nvSpPr>
          <p:spPr>
            <a:xfrm>
              <a:off x="402336" y="4334256"/>
              <a:ext cx="822960" cy="201168"/>
            </a:xfrm>
            <a:prstGeom prst="rect">
              <a:avLst/>
            </a:prstGeom>
            <a:solidFill>
              <a:srgbClr val="833AB4">
                <a:alpha val="18000"/>
              </a:srgbClr>
            </a:solidFill>
            <a:ln w="12700">
              <a:solidFill>
                <a:srgbClr val="833AB4">
                  <a:alpha val="45000"/>
                </a:srgbClr>
              </a:solidFill>
              <a:prstDash val="solid"/>
            </a:ln>
          </p:spPr>
        </p:sp>
        <p:sp>
          <p:nvSpPr>
            <p:cNvPr id="39" name="Text 33"/>
            <p:cNvSpPr/>
            <p:nvPr/>
          </p:nvSpPr>
          <p:spPr>
            <a:xfrm>
              <a:off x="402336" y="4334256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833AB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Retention</a:t>
              </a:r>
              <a:endParaRPr lang="en-US" sz="800" dirty="0"/>
            </a:p>
          </p:txBody>
        </p:sp>
        <p:sp>
          <p:nvSpPr>
            <p:cNvPr id="46" name="Shape 39"/>
            <p:cNvSpPr/>
            <p:nvPr/>
          </p:nvSpPr>
          <p:spPr>
            <a:xfrm>
              <a:off x="3374136" y="4334256"/>
              <a:ext cx="822960" cy="201168"/>
            </a:xfrm>
            <a:prstGeom prst="rect">
              <a:avLst/>
            </a:prstGeom>
            <a:solidFill>
              <a:srgbClr val="E1306C">
                <a:alpha val="18000"/>
              </a:srgbClr>
            </a:solidFill>
            <a:ln w="12700">
              <a:solidFill>
                <a:srgbClr val="E1306C">
                  <a:alpha val="45000"/>
                </a:srgbClr>
              </a:solidFill>
              <a:prstDash val="solid"/>
            </a:ln>
          </p:spPr>
        </p:sp>
        <p:sp>
          <p:nvSpPr>
            <p:cNvPr id="47" name="Text 40"/>
            <p:cNvSpPr/>
            <p:nvPr/>
          </p:nvSpPr>
          <p:spPr>
            <a:xfrm>
              <a:off x="3374136" y="4334256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1306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Engagement</a:t>
              </a:r>
              <a:endParaRPr lang="en-US" sz="800" dirty="0"/>
            </a:p>
          </p:txBody>
        </p:sp>
      </p:grpSp>
      <p:sp>
        <p:nvSpPr>
          <p:cNvPr id="48" name="Shape 41"/>
          <p:cNvSpPr/>
          <p:nvPr/>
        </p:nvSpPr>
        <p:spPr>
          <a:xfrm>
            <a:off x="6217920" y="3017520"/>
            <a:ext cx="2724912" cy="1572768"/>
          </a:xfrm>
          <a:prstGeom prst="rect">
            <a:avLst/>
          </a:prstGeom>
          <a:solidFill>
            <a:srgbClr val="F4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6217920" y="3017520"/>
            <a:ext cx="2724912" cy="64008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50" name="Shape 43"/>
          <p:cNvSpPr/>
          <p:nvPr/>
        </p:nvSpPr>
        <p:spPr>
          <a:xfrm>
            <a:off x="6345936" y="3145536"/>
            <a:ext cx="384048" cy="384048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307" y="3208711"/>
            <a:ext cx="268501" cy="268501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812280" y="3127248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Diversity Expansion</a:t>
            </a:r>
            <a:endParaRPr lang="en-US" sz="1100" dirty="0"/>
          </a:p>
        </p:txBody>
      </p:sp>
      <p:sp>
        <p:nvSpPr>
          <p:cNvPr id="53" name="Text 45"/>
          <p:cNvSpPr/>
          <p:nvPr/>
        </p:nvSpPr>
        <p:spPr>
          <a:xfrm>
            <a:off x="6345936" y="355452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short-video &amp; Reel-style formats to the photo-only platform. Diversified content increases time &amp; attracts new segments.</a:t>
            </a:r>
            <a:endParaRPr lang="en-US" sz="95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5C39821-6FA2-838B-2A10-6AE7EB2AEB45}"/>
              </a:ext>
            </a:extLst>
          </p:cNvPr>
          <p:cNvGrpSpPr/>
          <p:nvPr/>
        </p:nvGrpSpPr>
        <p:grpSpPr>
          <a:xfrm>
            <a:off x="6345936" y="4284378"/>
            <a:ext cx="822960" cy="201168"/>
            <a:chOff x="6345936" y="4334256"/>
            <a:chExt cx="822960" cy="201168"/>
          </a:xfrm>
        </p:grpSpPr>
        <p:sp>
          <p:nvSpPr>
            <p:cNvPr id="54" name="Shape 46"/>
            <p:cNvSpPr/>
            <p:nvPr/>
          </p:nvSpPr>
          <p:spPr>
            <a:xfrm>
              <a:off x="6345936" y="4334256"/>
              <a:ext cx="822960" cy="201168"/>
            </a:xfrm>
            <a:prstGeom prst="rect">
              <a:avLst/>
            </a:prstGeom>
            <a:solidFill>
              <a:srgbClr val="F77737">
                <a:alpha val="18000"/>
              </a:srgbClr>
            </a:solidFill>
            <a:ln w="12700">
              <a:solidFill>
                <a:srgbClr val="F77737">
                  <a:alpha val="45000"/>
                </a:srgbClr>
              </a:solidFill>
              <a:prstDash val="solid"/>
            </a:ln>
          </p:spPr>
        </p:sp>
        <p:sp>
          <p:nvSpPr>
            <p:cNvPr id="55" name="Text 47"/>
            <p:cNvSpPr/>
            <p:nvPr/>
          </p:nvSpPr>
          <p:spPr>
            <a:xfrm>
              <a:off x="6345936" y="4334256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777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 Growth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33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Power-User Ambassador &amp; Content Pillar Program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OQ2 (Top Engagement Users) + SQ1 (Loyal User Identification)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2651760" cy="1325880"/>
          </a:xfrm>
          <a:prstGeom prst="rect">
            <a:avLst/>
          </a:prstGeom>
          <a:solidFill>
            <a:srgbClr val="161630"/>
          </a:solidFill>
          <a:ln w="12700">
            <a:solidFill>
              <a:srgbClr val="2E30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833AB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5731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728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Top 5% Users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16712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engagement scoring (likes + comments + posts) to extract the top 5% power users quarterly.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600200"/>
            <a:ext cx="2651760" cy="1325880"/>
          </a:xfrm>
          <a:prstGeom prst="rect">
            <a:avLst/>
          </a:prstGeom>
          <a:solidFill>
            <a:srgbClr val="161630"/>
          </a:solidFill>
          <a:ln w="12700">
            <a:solidFill>
              <a:srgbClr val="2E30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737360"/>
            <a:ext cx="384048" cy="384048"/>
          </a:xfrm>
          <a:prstGeom prst="ellipse">
            <a:avLst/>
          </a:prstGeom>
          <a:solidFill>
            <a:srgbClr val="E1306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6457" y="1793055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67912" y="1728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Pillar Alignment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216712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creator briefs to Beauty, Food &amp; Photography — the three highest-performing content themes.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600200"/>
            <a:ext cx="2651760" cy="1325880"/>
          </a:xfrm>
          <a:prstGeom prst="rect">
            <a:avLst/>
          </a:prstGeom>
          <a:solidFill>
            <a:srgbClr val="161630"/>
          </a:solidFill>
          <a:ln w="12700">
            <a:solidFill>
              <a:srgbClr val="2E305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737360"/>
            <a:ext cx="384048" cy="384048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77393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02552" y="1728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Ambassador Programme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17920" y="216712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power users exclusive badges, early access, and co-marketing opportunities in exchange for brand-aligned content.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11480" y="3063240"/>
            <a:ext cx="2651760" cy="1325880"/>
          </a:xfrm>
          <a:prstGeom prst="rect">
            <a:avLst/>
          </a:prstGeom>
          <a:solidFill>
            <a:srgbClr val="161630"/>
          </a:solidFill>
          <a:ln w="12700">
            <a:solidFill>
              <a:srgbClr val="2E305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833AB4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698" y="3241131"/>
            <a:ext cx="290946" cy="29094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33272" y="31912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Hashtag Injection Strategy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363016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branded hashtags (e.g., #MetaMoments) with top-performing organic tags (#beauty, #foodie) to drive discoverability.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46120" y="3063240"/>
            <a:ext cx="2651760" cy="1325880"/>
          </a:xfrm>
          <a:prstGeom prst="rect">
            <a:avLst/>
          </a:prstGeom>
          <a:solidFill>
            <a:srgbClr val="161630"/>
          </a:solidFill>
          <a:ln w="12700">
            <a:solidFill>
              <a:srgbClr val="2E305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383280" y="3200400"/>
            <a:ext cx="384048" cy="384048"/>
          </a:xfrm>
          <a:prstGeom prst="ellipse">
            <a:avLst/>
          </a:prstGeom>
          <a:solidFill>
            <a:srgbClr val="E1306C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025" y="326607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67912" y="31912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Sponsored Creator Boosts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83280" y="363016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top-performing organic posts via paid promotion to extend reach beyond existing follower base.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80760" y="3063240"/>
            <a:ext cx="2651760" cy="1325880"/>
          </a:xfrm>
          <a:prstGeom prst="rect">
            <a:avLst/>
          </a:prstGeom>
          <a:solidFill>
            <a:srgbClr val="161630"/>
          </a:solidFill>
          <a:ln w="12700">
            <a:solidFill>
              <a:srgbClr val="2E305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17920" y="3200400"/>
            <a:ext cx="384048" cy="384048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212" y="3244458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02552" y="31912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&amp; Iterate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17920" y="363016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engagement lift monthly; rotate ambassadors if engagement drops below 2× platform average.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Two-Track Retention Engine: Reward &amp; Re-engage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207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SQ1 (Loyal Users) + SQ2 (Inactive Users) + OQ1 (Activity Distribution)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3840480" cy="3291840"/>
          </a:xfrm>
          <a:prstGeom prst="rect">
            <a:avLst/>
          </a:prstGeom>
          <a:solidFill>
            <a:srgbClr val="0D1535"/>
          </a:solidFill>
          <a:ln w="12700">
            <a:solidFill>
              <a:srgbClr val="1E2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72768"/>
            <a:ext cx="3840480" cy="54864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82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33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· REWARD LOYAL 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057400"/>
            <a:ext cx="201168" cy="201168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199339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engagement scoring to top 5% users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201168" cy="201168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8716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badges: Rising Star → Power User → Legend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063240"/>
            <a:ext cx="201168" cy="201168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299008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new features &amp; analytics tools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566160"/>
            <a:ext cx="201168" cy="201168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49300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discount cards &amp; platform credit rewards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069080"/>
            <a:ext cx="201168" cy="201168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0507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invitation to Meta creator events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572768"/>
            <a:ext cx="4251960" cy="3291840"/>
          </a:xfrm>
          <a:prstGeom prst="rect">
            <a:avLst/>
          </a:prstGeom>
          <a:solidFill>
            <a:srgbClr val="1A0810"/>
          </a:solidFill>
          <a:ln w="12700">
            <a:solidFill>
              <a:srgbClr val="401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572768"/>
            <a:ext cx="4251960" cy="54864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· RE-ENGAGE INACTIVE USERS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201168" cy="201168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zero-engagement users for targeted outreach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201168" cy="201168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25" name="Text 23"/>
          <p:cNvSpPr/>
          <p:nvPr/>
        </p:nvSpPr>
        <p:spPr>
          <a:xfrm>
            <a:off x="5047488" y="2496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re-engagement emails with curated content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201168" cy="201168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milestone push notifications to nudge return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3566160"/>
            <a:ext cx="201168" cy="201168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29" name="Text 27"/>
          <p:cNvSpPr/>
          <p:nvPr/>
        </p:nvSpPr>
        <p:spPr>
          <a:xfrm>
            <a:off x="5047488" y="3502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challenges: posting streaks &amp; weekly contests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4069080"/>
            <a:ext cx="201168" cy="201168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31" name="Text 29"/>
          <p:cNvSpPr/>
          <p:nvPr/>
        </p:nvSpPr>
        <p:spPr>
          <a:xfrm>
            <a:off x="5047488" y="4014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re-onboarding &amp; ready-to-post templates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77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Ad Targeting: Right Content, Right 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207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OQ3 (Hashtag Performance) + SQ3 (Peak Hours) + OQ2 (Engagement Ranking)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" y="1600200"/>
            <a:ext cx="2788920" cy="3246120"/>
          </a:xfrm>
          <a:prstGeom prst="rect">
            <a:avLst/>
          </a:prstGeom>
          <a:solidFill>
            <a:srgbClr val="0D0D1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1600200"/>
            <a:ext cx="2788920" cy="54864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Hashtag-Led Targeting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2221992"/>
            <a:ext cx="54864" cy="502920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1762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ads alongside top-10 hashtags: #beauty, #foodie, #photography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907792"/>
            <a:ext cx="54864" cy="502920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2862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branded tags with high-performing organic tags to maximise impressions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3593592"/>
            <a:ext cx="54864" cy="502920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35478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creative quarterly based on updated hashtag performance 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4279392"/>
            <a:ext cx="54864" cy="502920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4233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micro-influencers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these hashtags organically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27832" y="1600200"/>
            <a:ext cx="2788920" cy="3246120"/>
          </a:xfrm>
          <a:prstGeom prst="rect">
            <a:avLst/>
          </a:prstGeom>
          <a:solidFill>
            <a:srgbClr val="0D0D1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7832" y="1600200"/>
            <a:ext cx="2788920" cy="54864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Peak-Hour Ad Scheduling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64992" y="2221992"/>
            <a:ext cx="54864" cy="502920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21" name="Text 19"/>
          <p:cNvSpPr/>
          <p:nvPr/>
        </p:nvSpPr>
        <p:spPr>
          <a:xfrm>
            <a:off x="3502152" y="21762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ad budget delivery between 6 PM – 8 PM (peak: 7 PM)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64992" y="2907792"/>
            <a:ext cx="54864" cy="502920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2862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of 63 at 7 PM vs ~15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off-peak hours — 4× ROI uplift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3593592"/>
            <a:ext cx="54864" cy="502920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25" name="Text 23"/>
          <p:cNvSpPr/>
          <p:nvPr/>
        </p:nvSpPr>
        <p:spPr>
          <a:xfrm>
            <a:off x="3502152" y="35478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push notifications with ad delivery windows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4279392"/>
            <a:ext cx="54864" cy="502920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27" name="Text 25"/>
          <p:cNvSpPr/>
          <p:nvPr/>
        </p:nvSpPr>
        <p:spPr>
          <a:xfrm>
            <a:off x="3502152" y="4233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creative variants at 7 PM vs 5 PM to validate timing lift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53912" y="1600200"/>
            <a:ext cx="2788920" cy="3246120"/>
          </a:xfrm>
          <a:prstGeom prst="rect">
            <a:avLst/>
          </a:prstGeom>
          <a:solidFill>
            <a:srgbClr val="0D0D1A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3912" y="1600200"/>
            <a:ext cx="2788920" cy="54864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0" name="Text 28"/>
          <p:cNvSpPr/>
          <p:nvPr/>
        </p:nvSpPr>
        <p:spPr>
          <a:xfrm>
            <a:off x="6291072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User-Generated Content Ads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91072" y="2221992"/>
            <a:ext cx="54864" cy="502920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2" name="Text 30"/>
          <p:cNvSpPr/>
          <p:nvPr/>
        </p:nvSpPr>
        <p:spPr>
          <a:xfrm>
            <a:off x="6428232" y="21762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 top-performing organic posts as sponsored content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91072" y="2907792"/>
            <a:ext cx="54864" cy="502920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2862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follow-back users (mutual followers) as social proof networks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91072" y="3593592"/>
            <a:ext cx="54864" cy="502920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35478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high-engagement creator content in Stories &amp; Reels placements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91072" y="4279392"/>
            <a:ext cx="54864" cy="502920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8" name="Text 36"/>
          <p:cNvSpPr/>
          <p:nvPr/>
        </p:nvSpPr>
        <p:spPr>
          <a:xfrm>
            <a:off x="6428232" y="4233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UGC ad performance vs generic creatives; shift budget to winners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1440" cy="5143500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0"/>
            <a:ext cx="64008" cy="5143500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833AB4">
              <a:alpha val="18000"/>
            </a:srgbClr>
          </a:solidFill>
          <a:ln w="12700">
            <a:solidFill>
              <a:srgbClr val="833AB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E1306C">
              <a:alpha val="15000"/>
            </a:srgbClr>
          </a:solidFill>
          <a:ln w="12700">
            <a:solidFill>
              <a:srgbClr val="E1306C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strategy — a roadmap for Instagram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389888"/>
            <a:ext cx="8321040" cy="749808"/>
          </a:xfrm>
          <a:prstGeom prst="rect">
            <a:avLst/>
          </a:prstGeom>
          <a:solidFill>
            <a:srgbClr val="161630"/>
          </a:solidFill>
          <a:ln w="12700">
            <a:solidFill>
              <a:srgbClr val="2E30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89888"/>
            <a:ext cx="54864" cy="749808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645920"/>
            <a:ext cx="237744" cy="237744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is highly concentrated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77393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of users generate ~60% of platform activity. Identify, reward, and amplify this cohort as brand ambassadors.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258568"/>
            <a:ext cx="8321040" cy="749808"/>
          </a:xfrm>
          <a:prstGeom prst="rect">
            <a:avLst/>
          </a:prstGeom>
          <a:solidFill>
            <a:srgbClr val="161630"/>
          </a:solidFill>
          <a:ln w="12700">
            <a:solidFill>
              <a:srgbClr val="2E3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258568"/>
            <a:ext cx="54864" cy="749808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514600"/>
            <a:ext cx="237744" cy="237744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 of users need re-engagement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6426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email, in-app nudges, and gamification can reactivate a large dormant user base — significant growth headroom.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127248"/>
            <a:ext cx="8321040" cy="749808"/>
          </a:xfrm>
          <a:prstGeom prst="rect">
            <a:avLst/>
          </a:prstGeom>
          <a:solidFill>
            <a:srgbClr val="161630"/>
          </a:solidFill>
          <a:ln w="12700">
            <a:solidFill>
              <a:srgbClr val="2E30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27248"/>
            <a:ext cx="54864" cy="749808"/>
          </a:xfrm>
          <a:prstGeom prst="rect">
            <a:avLst/>
          </a:prstGeom>
          <a:solidFill>
            <a:srgbClr val="F77737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383280"/>
            <a:ext cx="237744" cy="237744"/>
          </a:xfrm>
          <a:prstGeom prst="ellipse">
            <a:avLst/>
          </a:prstGeom>
          <a:solidFill>
            <a:srgbClr val="F77737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218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themes are clear signals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5112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Beauty, Food, and Photography dominate. Align all ad creatives and influencer briefs to these proven content pillars.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995928"/>
            <a:ext cx="8321040" cy="749808"/>
          </a:xfrm>
          <a:prstGeom prst="rect">
            <a:avLst/>
          </a:prstGeom>
          <a:solidFill>
            <a:srgbClr val="161630"/>
          </a:solidFill>
          <a:ln w="12700">
            <a:solidFill>
              <a:srgbClr val="2E30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995928"/>
            <a:ext cx="54864" cy="749808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251960"/>
            <a:ext cx="237744" cy="237744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087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PM is the golden hour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3799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ads and notifications at peak engagement windows (6–8 PM) can deliver 4× better ROI vs off-peak delivery.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0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Instagram Clone · Social Media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1900</Words>
  <Application>Microsoft Macintosh PowerPoint</Application>
  <PresentationFormat>On-screen Show (16:9)</PresentationFormat>
  <Paragraphs>271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Analysis – Meta Instagram Clone</dc:title>
  <dc:subject>PptxGenJS Presentation</dc:subject>
  <dc:creator>PptxGenJS</dc:creator>
  <cp:lastModifiedBy>Lakshay Garg</cp:lastModifiedBy>
  <cp:revision>7</cp:revision>
  <dcterms:created xsi:type="dcterms:W3CDTF">2026-05-01T10:09:16Z</dcterms:created>
  <dcterms:modified xsi:type="dcterms:W3CDTF">2026-05-06T12:48:54Z</dcterms:modified>
</cp:coreProperties>
</file>